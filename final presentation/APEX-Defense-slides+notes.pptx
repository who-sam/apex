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أهلاً بحضراتكم وشكراً إنكم معانا النهارده</a:t>
            </a:r>
          </a:p>
          <a:p>
            <a:pPr algn="r" rtl="1"/>
            <a:r>
              <a:rPr sz="1400"/>
              <a:t>• APEX منصة امتحانات: المدرّس يعمل امتحانات برمجة وMCQ ومقالي، والطالب يمتحن في المتصفح بوقت محدّد</a:t>
            </a:r>
          </a:p>
          <a:p>
            <a:pPr algn="r" rtl="1"/>
            <a:r>
              <a:rPr sz="1400"/>
              <a:t>• إجابات الكود بتشتغل فعلاً جوه sandbox معزول عن طريق Judge0 وبتتصحّح أوتوماتيك</a:t>
            </a:r>
          </a:p>
          <a:p>
            <a:pPr algn="r" rtl="1"/>
            <a:r>
              <a:rPr sz="1400"/>
              <a:t>• احنا خمسة، كل واحد هيشرح الجزء اللي بناه — وأنا هبدأ بالصورة الكبيرة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الترتيب: أنا (التصميم والـarchitecture) ← M2 داتا ← M3 تشغيل وتصحيح ← M4 أمان ← M5 الـDevOps والنتايج</a:t>
            </a:r>
          </a:p>
          <a:p>
            <a:pPr algn="r" rtl="1"/>
            <a:r>
              <a:rPr sz="1400"/>
              <a:t>• بنقفل بديمو حي أنا اللي هشغّله قدام حضراتكم</a:t>
            </a:r>
          </a:p>
          <a:p>
            <a:pPr algn="r" rtl="1"/>
            <a:r>
              <a:rPr sz="1400"/>
              <a:t>• منظومة واحدة اشتغلنا عليها كفريق، كل واحد مسؤول عن جزئه</a:t>
            </a:r>
          </a:p>
          <a:p>
            <a:pPr algn="r" rtl="1"/>
            <a:r>
              <a:rPr sz="1400"/>
              <a:t>• الوقت في حدود عشرين دقيقة — يلا نبدأ: بنحل مشكلة إيه؟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انتقال: قبل ما نوريكم بنينا إيه، ليه امتحانات البرمجة صعبة بالطرق الحالية؟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امتحان البرمجة محتاج تلات حاجات مش موجودة في الورق والأدوات العامة</a:t>
            </a:r>
          </a:p>
          <a:p>
            <a:pPr algn="r" rtl="1"/>
            <a:r>
              <a:rPr sz="1400"/>
              <a:t>• الكود لازم يشتغل فعلاً، مش بس يتكتب</a:t>
            </a:r>
          </a:p>
          <a:p>
            <a:pPr algn="r" rtl="1"/>
            <a:r>
              <a:rPr sz="1400"/>
              <a:t>• التصحيح لازم يبقى موحّد وعادل، مش مزاجي وبطيء</a:t>
            </a:r>
          </a:p>
          <a:p>
            <a:pPr algn="r" rtl="1"/>
            <a:r>
              <a:rPr sz="1400"/>
              <a:t>• الوقت لازم يفضل آمن حتى لو النت وقع من الطالب</a:t>
            </a:r>
          </a:p>
          <a:p>
            <a:pPr algn="r" rtl="1"/>
            <a:r>
              <a:rPr sz="1400"/>
              <a:t>• كل وجع فيهم بيتحل في جزء من APEX هنوريه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كل أداة موجودة بتحل نص المشكلة بس</a:t>
            </a:r>
          </a:p>
          <a:p>
            <a:pPr algn="r" rtl="1"/>
            <a:r>
              <a:rPr sz="1400"/>
              <a:t>• تطبيقات الكويز: شكلها حلو بس مبتشغّلش كود</a:t>
            </a:r>
          </a:p>
          <a:p>
            <a:pPr algn="r" rtl="1"/>
            <a:r>
              <a:rPr sz="1400"/>
              <a:t>• الـonline judges الخام: بتشغّل كود بس مفيش workflow للفصل (لا كلاسات ولا توقيت ولا درجات)</a:t>
            </a:r>
          </a:p>
          <a:p>
            <a:pPr algn="r" rtl="1"/>
            <a:r>
              <a:rPr sz="1400"/>
              <a:t>• APEX هو نقطة التقاطع اللي بتجمع الاتنين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APEX منصة full-stack كاملة: تبني وتشغّل وتصحّح الامتحانات في المتصفح</a:t>
            </a:r>
          </a:p>
          <a:p>
            <a:pPr algn="r" rtl="1"/>
            <a:r>
              <a:rPr sz="1400"/>
              <a:t>• التلات ركايز بتقابل التلات مشاكل اللي قلنا عليهم</a:t>
            </a:r>
          </a:p>
          <a:p>
            <a:pPr algn="r" rtl="1"/>
            <a:r>
              <a:rPr sz="1400"/>
              <a:t>• اخترنا الأدوات بوعي: Gin وMonaco وJudge0 دمجناها جوه نظام صمّمناه وبنيناه بنفسنا</a:t>
            </a:r>
          </a:p>
          <a:p>
            <a:pPr algn="r" rtl="1"/>
            <a:r>
              <a:rPr sz="1400"/>
              <a:t>• انتقال: يلا نبص على الـarchitecture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انتقال للنظام نفسه: صورة الـarchitecture، بعدها backend، وfrontend، وأخيراً الـexam runner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من الشمال لليمين: React SPA ← Gin API ← PostgreSQL</a:t>
            </a:r>
          </a:p>
          <a:p>
            <a:pPr algn="r" rtl="1"/>
            <a:r>
              <a:rPr sz="1400"/>
              <a:t>• المربع المنقّط هو المفتاح: كود الطالب بيتبعت لـJudge0 ويتنفّذ هناك، بعيد عن السيرفر والداتا</a:t>
            </a:r>
          </a:p>
          <a:p>
            <a:pPr algn="r" rtl="1"/>
            <a:r>
              <a:rPr sz="1400"/>
              <a:t>• جوه الـAPI ~20 feature package متركّبين بـmain.go من 79 سطر</a:t>
            </a:r>
          </a:p>
          <a:p>
            <a:pPr algn="r" rtl="1"/>
            <a:r>
              <a:rPr sz="1400"/>
              <a:t>• deployment واحد monolith، بس الكود مقسّم ومنظّم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كل request بيعدي على نفس السلسلة قبل أي handler</a:t>
            </a:r>
          </a:p>
          <a:p>
            <a:pPr algn="r" rtl="1"/>
            <a:r>
              <a:rPr sz="1400"/>
              <a:t>• الـauthentication والـauthorization منفصلين ومترتبين</a:t>
            </a:r>
          </a:p>
          <a:p>
            <a:pPr algn="r" rtl="1"/>
            <a:r>
              <a:rPr sz="1400"/>
              <a:t>• token صح بس دور غلط ← بيموت عند RequireRole قبل ما يوصل للكود</a:t>
            </a:r>
          </a:p>
          <a:p>
            <a:pPr algn="r" rtl="1"/>
            <a:r>
              <a:rPr sz="1400"/>
              <a:t>• الحجم: ~6,100 سطر Go على ~65 endpoint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تلات screenshots حقيقية: login، شاشة المدرّس، شاشة الطالب</a:t>
            </a:r>
          </a:p>
          <a:p>
            <a:pPr algn="r" rtl="1"/>
            <a:r>
              <a:rPr sz="1400"/>
              <a:t>• نفس الـSPA — الدور اللي جوه الـJWT بيحدد إنت تشوف أنهي routes</a:t>
            </a:r>
          </a:p>
          <a:p>
            <a:pPr algn="r" rtl="1"/>
            <a:r>
              <a:rPr sz="1400"/>
              <a:t>• ~17,400 سطر TypeScript على 22 route</a:t>
            </a:r>
          </a:p>
          <a:p>
            <a:pPr algn="r" rtl="1"/>
            <a:r>
              <a:rPr sz="1400"/>
              <a:t>• مبني على shadcn وRadix، وMonaco لكتابة الكود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أعمق شغل في الـfrontend، وعده: refresh أو نت واقع أو هنج ما يخسّرش الطالب امتحانه</a:t>
            </a:r>
          </a:p>
          <a:p>
            <a:pPr algn="r" rtl="1"/>
            <a:r>
              <a:rPr sz="1400"/>
              <a:t>• الوقت بيتحسب من الـstartedAt على السيرفر — مفيش حاجة في المتصفح تصفّر العداد</a:t>
            </a:r>
          </a:p>
          <a:p>
            <a:pPr algn="r" rtl="1"/>
            <a:r>
              <a:rPr sz="1400"/>
              <a:t>• الإجابة بتتحفظ مرتين: محلياً مع كل حرف، وعلى السيرفر كل 1.5 ثانية بالـdebounce</a:t>
            </a:r>
          </a:p>
          <a:p>
            <a:pPr algn="r" rtl="1"/>
            <a:r>
              <a:rPr sz="1400"/>
              <a:t>• في الديمو: هنعمل refresh وسط الامتحان ومش هيضيع حاجة</a:t>
            </a:r>
          </a:p>
          <a:p>
            <a:pPr algn="r" rtl="1"/>
            <a:r>
              <a:rPr sz="1400"/>
              <a:t>• تسليم: M2 هيوريكم الداتا بتتخزن فين وإزاي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شكراً يا زميلي</a:t>
            </a:r>
          </a:p>
          <a:p>
            <a:pPr algn="r" rtl="1"/>
            <a:r>
              <a:rPr sz="1400"/>
              <a:t>• الجداول دي الأساس اللي كل اللي شفتوه واقف عليه — سلايد واحد على شكلها وعلاقاتها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نفس الـ9 جداول الأساسية بمنظور فيزيكال: الأعمدة والـforeign keys</a:t>
            </a:r>
          </a:p>
          <a:p>
            <a:pPr algn="r" rtl="1"/>
            <a:r>
              <a:rPr sz="1400"/>
              <a:t>• اليوزر عنده كذا class وكذا exam</a:t>
            </a:r>
          </a:p>
          <a:p>
            <a:pPr algn="r" rtl="1"/>
            <a:r>
              <a:rPr sz="1400"/>
              <a:t>• التسجيل وتوزيع الامتحان جدولين M:N بيربطوا</a:t>
            </a:r>
          </a:p>
          <a:p>
            <a:pPr algn="r" rtl="1"/>
            <a:r>
              <a:rPr sz="1400"/>
              <a:t>• المسألة البرمجية ليها كذا test case مخفي</a:t>
            </a:r>
          </a:p>
          <a:p>
            <a:pPr algn="r" rtl="1"/>
            <a:r>
              <a:rPr sz="1400"/>
              <a:t>• العمود المميّز = سلسلة التصحيح: attempt ← submissions ← نتايج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تتبّع محاولة واحدة جوه الجداول:</a:t>
            </a:r>
          </a:p>
          <a:p>
            <a:pPr algn="r" rtl="1"/>
            <a:r>
              <a:rPr sz="1400"/>
              <a:t>• answers: بيتكتب على طول من الـautosave</a:t>
            </a:r>
          </a:p>
          <a:p>
            <a:pPr algn="r" rtl="1"/>
            <a:r>
              <a:rPr sz="1400"/>
              <a:t>• submissions: بتتعمل لحظة التسليم ومعاها Judge0 token والـverdict</a:t>
            </a:r>
          </a:p>
          <a:p>
            <a:pPr algn="r" rtl="1"/>
            <a:r>
              <a:rPr sz="1400"/>
              <a:t>• scores: الصف الواحد النهائي بالدرجة</a:t>
            </a:r>
          </a:p>
          <a:p>
            <a:pPr algn="r" rtl="1"/>
            <a:r>
              <a:rPr sz="1400"/>
              <a:t>• التلاتة بيتعملوا بخدمة الـmigrate، وأي كتابة owner-scoped</a:t>
            </a:r>
          </a:p>
          <a:p>
            <a:pPr algn="r" rtl="1"/>
            <a:r>
              <a:rPr sz="1400"/>
              <a:t>• تسليم: M3 هيوريكم الكود بيتشغّل وبيتصحّح إزاي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خلصنا الداتا — دلوقتي قلب المشروع: إزاي الكود بيشتغل وإزاي بنحسب الدرجة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قبل التصحيح: المحرك اللي تحته — Playground = compiler أونلاين عادي</a:t>
            </a:r>
          </a:p>
          <a:p>
            <a:pPr algn="r" rtl="1"/>
            <a:r>
              <a:rPr sz="1400"/>
              <a:t>• تختار لغة، تكتب في Monaco، تحط input، تدوس Run، يرجّعلك stdout/stderr والوقت والذاكرة</a:t>
            </a:r>
          </a:p>
          <a:p>
            <a:pPr algn="r" rtl="1"/>
            <a:r>
              <a:rPr sz="1400"/>
              <a:t>• ست لغات (Python, JavaScript, TypeScript, Java, C, C++) من endpoint واحد POST /api/execute</a:t>
            </a:r>
          </a:p>
          <a:p>
            <a:pPr algn="r" rtl="1"/>
            <a:r>
              <a:rPr sz="1400"/>
              <a:t>• كله جوه Judge0 sandbox بـtimeout 30 ثانية</a:t>
            </a:r>
          </a:p>
          <a:p>
            <a:pPr algn="r" rtl="1"/>
            <a:r>
              <a:rPr sz="1400"/>
              <a:t>• محرك التصحيح بيستخدم نفس الـengine — بس بيغذّيه بالـtest cases المخفية ويقارن الـoutput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لما الطالب يسلّم: بنفرّع goroutines على التوازي — واحدة لكل test case مخفي</a:t>
            </a:r>
          </a:p>
          <a:p>
            <a:pPr algn="r" rtl="1"/>
            <a:r>
              <a:rPr sz="1400"/>
              <a:t>• كل واحدة بتتنفّذ جوه Judge0 — السيرفر بتاعنا عمره ما بيشغّل كود الطالب</a:t>
            </a:r>
          </a:p>
          <a:p>
            <a:pPr algn="r" rtl="1"/>
            <a:r>
              <a:rPr sz="1400"/>
              <a:t>• النتايج بتتجمّع في finalizer idempotent: retry أو callback متكرر مستحيل يصحّح مرتين</a:t>
            </a:r>
          </a:p>
          <a:p>
            <a:pPr algn="r" rtl="1"/>
            <a:r>
              <a:rPr sz="1400"/>
              <a:t>• المثال: 4 من 5 نجحوا ← 80% على المسألة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أهم قاعدة عدل: المقام = قايمة المسائل كلها، مش اللي اتحل بس</a:t>
            </a:r>
          </a:p>
          <a:p>
            <a:pPr algn="r" rtl="1"/>
            <a:r>
              <a:rPr sz="1400"/>
              <a:t>• سكِپ مسألة = صفر من وزنها (مثلاً 20)، فيطلع 65/100</a:t>
            </a:r>
          </a:p>
          <a:p>
            <a:pPr algn="r" rtl="1"/>
            <a:r>
              <a:rPr sz="1400"/>
              <a:t>• تصحيح موحّد وعادل: coding أوتوماتيك وMCQ أوتوماتيك</a:t>
            </a:r>
          </a:p>
          <a:p>
            <a:pPr algn="r" rtl="1"/>
            <a:r>
              <a:rPr sz="1400"/>
              <a:t>• تسليم: M4 هيقولكم بنأمّن المنصة إزاي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شكراً يا زميلي</a:t>
            </a:r>
          </a:p>
          <a:p>
            <a:pPr algn="r" rtl="1"/>
            <a:r>
              <a:rPr sz="1400"/>
              <a:t>• منصة امتحانات = هدف مغري للغش والتخريب — تعالوا نشوف بنحميها بكام طبقة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مفيش خط دفاع واحد: تمن طبقات مستقلة بين المهاجم والداتا</a:t>
            </a:r>
          </a:p>
          <a:p>
            <a:pPr algn="r" rtl="1"/>
            <a:r>
              <a:rPr sz="1400"/>
              <a:t>• الـedge: CORS وqueries كلها parameterized (مفيش injection)</a:t>
            </a:r>
          </a:p>
          <a:p>
            <a:pPr algn="r" rtl="1"/>
            <a:r>
              <a:rPr sz="1400"/>
              <a:t>• الهوية: JWT متثبّت بالـHMAC، والباسوردات bcrypt</a:t>
            </a:r>
          </a:p>
          <a:p>
            <a:pPr algn="r" rtl="1"/>
            <a:r>
              <a:rPr sz="1400"/>
              <a:t>• الصلاحيات: RequireRole و owner scoping</a:t>
            </a:r>
          </a:p>
          <a:p>
            <a:pPr algn="r" rtl="1"/>
            <a:r>
              <a:rPr sz="1400"/>
              <a:t>• المحتوى: test cases مخفية وأسرار fail-closed</a:t>
            </a:r>
          </a:p>
          <a:p>
            <a:pPr algn="r" rtl="1"/>
            <a:r>
              <a:rPr sz="1400"/>
              <a:t>• النبضة الحمرا = هجمة بتموت عند أول طبقة — خلّي بالكم من الحاجتين الكبار، السلايد الجاي هيفصّلهم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دي تفاصيل الطبقات اللي شفناها في السلايد اللي فات — كل واحدة بتعمل إيه بالظبط</a:t>
            </a:r>
          </a:p>
          <a:p>
            <a:pPr algn="r" rtl="1"/>
            <a:r>
              <a:rPr sz="1400"/>
              <a:t>• Edge — الـCORS بيسمح بس للمواقع اللي في الـallowlist توصل للـAPI</a:t>
            </a:r>
          </a:p>
          <a:p>
            <a:pPr algn="r" rtl="1"/>
            <a:r>
              <a:rPr sz="1400"/>
              <a:t>• Identity — JWT متوقّع بـHMAC بمفتاح سري، وأي token متزوّر أو متعدّل بيترفض</a:t>
            </a:r>
          </a:p>
          <a:p>
            <a:pPr algn="r" rtl="1"/>
            <a:r>
              <a:rPr sz="1400"/>
              <a:t>• Authorization — الـRequireRole بيتأكد من دور اليوزر قبل أي handler</a:t>
            </a:r>
          </a:p>
          <a:p>
            <a:pPr algn="r" rtl="1"/>
            <a:r>
              <a:rPr sz="1400"/>
              <a:t>• Data — كل query مربوطة باليوزر نفسه، فمحدش يقرا داتا غيره</a:t>
            </a:r>
          </a:p>
          <a:p>
            <a:pPr algn="r" rtl="1"/>
            <a:r>
              <a:rPr sz="1400"/>
              <a:t>• Content — كود الطالب بيتنفّذ جوه Judge0 sandbox بحدود CPU وميموري ووقت وملفات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بنيناه وإحنا فاكرين إن حد هيحاول يغش أو يخترق — دي أمثلة لهجمات وبتفشل ليه</a:t>
            </a:r>
          </a:p>
          <a:p>
            <a:pPr algn="r" rtl="1"/>
            <a:r>
              <a:rPr sz="1400"/>
              <a:t>• طالب يفتح submission بتاع زميله بالـID؟ كل قراءة مربوطة بصاحبها → بيرجّع 403</a:t>
            </a:r>
          </a:p>
          <a:p>
            <a:pPr algn="r" rtl="1"/>
            <a:r>
              <a:rPr sz="1400"/>
              <a:t>• يسحب الـhidden test cases؟ عمرها ما بتوصل للمتصفح، والـ/run بيرجّع الـsample بس</a:t>
            </a:r>
          </a:p>
          <a:p>
            <a:pPr algn="r" rtl="1"/>
            <a:r>
              <a:rPr sz="1400"/>
              <a:t>• يزوّر JWT بـalg none أو RS256؟ بنثبّت عيلة HMAC قبل ما نتحقق من التوقيع أصلاً</a:t>
            </a:r>
          </a:p>
          <a:p>
            <a:pPr algn="r" rtl="1"/>
            <a:r>
              <a:rPr sz="1400"/>
              <a:t>• كود الطالب يحاول يقرا الداتابيز أو الملفات؟ بيتنفّذ جوه Judge0 sandbox، عمره ما بيلمس سيرفرنا</a:t>
            </a:r>
          </a:p>
          <a:p>
            <a:pPr algn="r" rtl="1"/>
            <a:r>
              <a:rPr sz="1400"/>
              <a:t>• يسيب الأسئلة الصعبة عشان الدرجة تعلى؟ المقام هو كل المسائل، والسؤال المتسايب بياخد صفر</a:t>
            </a:r>
          </a:p>
          <a:p>
            <a:pPr algn="r" rtl="1"/>
            <a:r>
              <a:rPr sz="1400"/>
              <a:t>• تسليم: M5 هيوريكم التغليف والاختبار والنتايج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انتقال للجزء العملي: غلّفنا النظام إزاي، اختبرناه إزاي، وطلع منه إيه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فوق: الـcompose بيقوم بالترتيب الصح — Postgres healthy ← migration مرة واحدة ← API ← SPA</a:t>
            </a:r>
          </a:p>
          <a:p>
            <a:pPr algn="r" rtl="1"/>
            <a:r>
              <a:rPr sz="1400"/>
              <a:t>• محدش يقوم قبل اللي تحته</a:t>
            </a:r>
          </a:p>
          <a:p>
            <a:pPr algn="r" rtl="1"/>
            <a:r>
              <a:rPr sz="1400"/>
              <a:t>• تحت: ستة CI jobs، منهم اختبارات race-detector على Postgres حقيقي مش mock</a:t>
            </a:r>
          </a:p>
          <a:p>
            <a:pPr algn="r" rtl="1"/>
            <a:r>
              <a:rPr sz="1400"/>
              <a:t>• Dependabot بيراقب خمس ecosystems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الـproduction image مقصودين نخليه أنحف: مفيش shell ومفيش package manager</a:t>
            </a:r>
          </a:p>
          <a:p>
            <a:pPr algn="r" rtl="1"/>
            <a:r>
              <a:rPr sz="1400"/>
              <a:t>• بيشتغل unprivileged افتراضيًا — حتى لو حد دخله مش هيلاقي أدوات</a:t>
            </a:r>
          </a:p>
          <a:p>
            <a:pPr algn="r" rtl="1"/>
            <a:r>
              <a:rPr sz="1400"/>
              <a:t>• نتيجة الـdistroless: مفيش curl للـhealthcheck</a:t>
            </a:r>
          </a:p>
          <a:p>
            <a:pPr algn="r" rtl="1"/>
            <a:r>
              <a:rPr sz="1400"/>
              <a:t>• زوّدنا للـbinary فلاج ‎--healthcheck بيجرّب الـendpoint بنفسه ويرجّع نجاح/فشل</a:t>
            </a:r>
          </a:p>
          <a:p>
            <a:pPr algn="r" rtl="1"/>
            <a:r>
              <a:rPr sz="1400"/>
              <a:t>• تفصيلة صغيرة بتوري إن التغليف اتفكّر فيه من الأول للآخر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ناخد الأرقام واحد واحد، كل ضغطة رقم جديد</a:t>
            </a:r>
          </a:p>
          <a:p>
            <a:pPr algn="r" rtl="1"/>
            <a:r>
              <a:rPr sz="1400"/>
              <a:t>• كل الأرقام معدودة من الـrepo نفسه، مش تقديرات</a:t>
            </a:r>
          </a:p>
          <a:p>
            <a:pPr algn="r" rtl="1"/>
            <a:r>
              <a:rPr sz="1400"/>
              <a:t>• ده اللي خمس ناس طلّعوه في مشروع واحد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جولة سريعة بالصور — كله المنتج شغّال فعلاً مش mockups</a:t>
            </a:r>
          </a:p>
          <a:p>
            <a:pPr algn="r" rtl="1"/>
            <a:r>
              <a:rPr sz="1400"/>
              <a:t>• هسيب الشاشات تتكلم، وأنا بس أسمّي كل view وإحنا ماشيين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بكل صراحة عندنا نواقص معروفة ومش هنخبّيها — اللجان بتحترم اللي بيقول حدوده</a:t>
            </a:r>
          </a:p>
          <a:p>
            <a:pPr algn="r" rtl="1"/>
            <a:r>
              <a:rPr sz="1400"/>
              <a:t>• كل نقطة ناقصة قدامها خطوة تالية واضحة</a:t>
            </a:r>
          </a:p>
          <a:p>
            <a:pPr algn="r" rtl="1"/>
            <a:r>
              <a:rPr sz="1400"/>
              <a:t>• مفيش واحدة بتعطّل الاستخدام الأساسي للنظام</a:t>
            </a:r>
          </a:p>
          <a:p>
            <a:pPr algn="r" rtl="1"/>
            <a:r>
              <a:rPr sz="1400"/>
              <a:t>• تسليم: هرجّع لـM1 يقفل بأهم حاجة — نشوف الكلام شغّال حي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انتقال للديمو الحي — الجزء اللي بيثبت إن ده مش سلايدات</a:t>
            </a:r>
          </a:p>
          <a:p>
            <a:pPr algn="r" rtl="1"/>
            <a:r>
              <a:rPr sz="1400"/>
              <a:t>• تعالوا نشوف APEX شغّال قدامكم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اللحظة اللي مستنيينها — النظام من الأول للآخر</a:t>
            </a:r>
          </a:p>
          <a:p>
            <a:pPr algn="r" rtl="1"/>
            <a:r>
              <a:rPr sz="1400"/>
              <a:t>• كـinstructor: أبني امتحان من الـbuilder وأضيف السؤال والـtest cases</a:t>
            </a:r>
          </a:p>
          <a:p>
            <a:pPr algn="r" rtl="1"/>
            <a:r>
              <a:rPr sz="1400"/>
              <a:t>• كطالب: أكتب الحل في Monaco (خلّوا بالكم من الـautosave)، وأضغط submit</a:t>
            </a:r>
          </a:p>
          <a:p>
            <a:pPr algn="r" rtl="1"/>
            <a:r>
              <a:rPr sz="1400"/>
              <a:t>• الدرجة اتصححت أوتوماتيك في ثواني من غير ما حد يلمسها</a:t>
            </a:r>
          </a:p>
          <a:p>
            <a:pPr algn="r" rtl="1"/>
            <a:r>
              <a:rPr sz="1400"/>
              <a:t>• وكده ده APEX شغّال حي قدام حضراتكم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الفكرة في جملة: منصة تبني وتشغّل وتصحّح امتحانات البرمجة في المتصفح أوتوماتيك</a:t>
            </a:r>
          </a:p>
          <a:p>
            <a:pPr algn="r" rtl="1"/>
            <a:r>
              <a:rPr sz="1400"/>
              <a:t>• ألف شكر لأعضاء لجنة المناقشة</a:t>
            </a:r>
          </a:p>
          <a:p>
            <a:pPr algn="r" rtl="1"/>
            <a:r>
              <a:rPr sz="1400"/>
              <a:t>• وشكر خاص لمشرفنا على كل مجهوده معانا</a:t>
            </a:r>
          </a:p>
          <a:p>
            <a:pPr algn="r" rtl="1"/>
            <a:r>
              <a:rPr sz="1400"/>
              <a:t>• الفريق كله واقف دلوقتي لأي أسئلة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